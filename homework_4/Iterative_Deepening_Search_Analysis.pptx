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B2E"/>
                </a:solidFill>
                <a:latin typeface="Calibri"/>
              </a:rPr>
              <a:t>SEARCH STRATEGIES — CRITICAL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Iterative Deepening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CED6"/>
                </a:solidFill>
                <a:latin typeface="Calibri"/>
              </a:rPr>
              <a:t>When depth is a good proxy for cost — and when it stops being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1"/>
                </a:solidFill>
                <a:latin typeface="Calibri"/>
              </a:rPr>
              <a:t>Case study thread: Robot with Limited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300" dirty="0">
                <a:solidFill>
                  <a:srgbClr val="9AA5B1"/>
                </a:solidFill>
                <a:latin typeface="Calibri"/>
              </a:rPr>
              <a:t>Tartaglia Francesco</a:t>
            </a:r>
            <a:endParaRPr sz="1300" b="0" i="0" dirty="0">
              <a:solidFill>
                <a:srgbClr val="9AA5B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1.  Core idea — what actually distinguishes IDS</a:t>
            </a:r>
          </a:p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2.  The kind of search space where IDS thrives</a:t>
            </a:r>
          </a:p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3.  A worked example where IDS behaves well</a:t>
            </a:r>
          </a:p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4.  A worked example where IDS behaves poorly</a:t>
            </a:r>
          </a:p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5.  Completeness, optimality, time and space trade-offs</a:t>
            </a:r>
          </a:p>
          <a:p>
            <a:pPr>
              <a:lnSpc>
                <a:spcPct val="140000"/>
              </a:lnSpc>
              <a:spcAft>
                <a:spcPts val="1600"/>
              </a:spcAft>
            </a:pPr>
            <a:r>
              <a:rPr sz="2000">
                <a:solidFill>
                  <a:srgbClr val="151A2E"/>
                </a:solidFill>
                <a:latin typeface="Calibri"/>
              </a:rPr>
              <a:t>6.  Why IDS has no heuristic — and its informed counterpart (IDA*)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1 —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Core Idea of Iterative Deepening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51A2E"/>
                </a:solidFill>
                <a:latin typeface="Calibri"/>
              </a:rPr>
              <a:t>IDS runs Depth-Limited Search (DLS) repeatedly, with the depth limit l = 0, 1, 2, ... increasing at every iteration, until a solution is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0008"/>
            <a:ext cx="33832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/>
            <a:r>
              <a:rPr sz="1500" b="1">
                <a:solidFill>
                  <a:srgbClr val="2E6F95"/>
                </a:solidFill>
              </a:rPr>
              <a:t>Mechanism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Combines DFS's linear space usage with BFS's level-by-level completeness guarantee.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350008"/>
            <a:ext cx="33832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/>
            <a:r>
              <a:rPr sz="1500" b="1">
                <a:solidFill>
                  <a:srgbClr val="E88B2E"/>
                </a:solidFill>
              </a:rPr>
              <a:t>The subtle question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Why restart from scratch instead of resuming from the previous frontier?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350008"/>
            <a:ext cx="33832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/>
            <a:r>
              <a:rPr sz="1500" b="1">
                <a:solidFill>
                  <a:srgbClr val="277D4B"/>
                </a:solidFill>
              </a:rPr>
              <a:t>The answer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Re-exploring shallow levels is asymptotically negligible compared to the deepest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Evidence from the course material (b=10, d=5): IDS generates 123,450 nodes vs. 1,111,100 for BFS — almost an order of magnitude fewer, despite repeating all shallow-level work at every iteration.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2 — WHERE IT THRIVES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Ideal Search Space for 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51A2E"/>
                </a:solidFill>
                <a:latin typeface="Calibri"/>
              </a:rPr>
              <a:t>IDS is designed for spaces where depth is a faithful proxy for cost and the target depth is unknown in advance.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68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51A2E"/>
                </a:solidFill>
                <a:latin typeface="Calibri"/>
              </a:rPr>
              <a:t>Finite branching factor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6148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Every DLS iteration must terminate — b bounds how many successors each node has.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284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51A2E"/>
                </a:solidFill>
                <a:latin typeface="Calibri"/>
              </a:rPr>
              <a:t>Unknown solution depth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216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There is no good reason to fix a single depth limit in advance, unlike plain Depth-Limited Search.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15968"/>
            <a:ext cx="502920" cy="50292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885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51A2E"/>
                </a:solidFill>
                <a:latin typeface="Calibri"/>
              </a:rPr>
              <a:t>Uniform step cost (ideally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8172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Depth in the tree must coincide with path cost — otherwise the depth cutoff has no physical meaning.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3 — WHEN IDS BEHAVES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Positive Example — Battery Robot, No Recharge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1A2E"/>
                </a:solidFill>
                <a:latin typeface="Calibri"/>
              </a:rPr>
              <a:t>Grid robot, battery autonomy k = 8, sparse obstacles, no recharge cells. Each move consumes exactly 1 unit of battery. The optimal solution depth is unknown in advance.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41448"/>
            <a:ext cx="3429000" cy="2834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rtlCol="0" anchor="ctr"/>
          <a:lstStyle/>
          <a:p>
            <a:pPr algn="ctr"/>
            <a:r>
              <a:rPr sz="1600" b="1">
                <a:solidFill>
                  <a:srgbClr val="C0392B"/>
                </a:solidFill>
              </a:rPr>
              <a:t>Plain DFS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151A2E"/>
                </a:solidFill>
              </a:rPr>
              <a:t>May commit to a long branch and exhaust the k=8 budget before ever finding the goal — no guarantee of finding the shortest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441448"/>
            <a:ext cx="3429000" cy="2834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rtlCol="0" anchor="ctr"/>
          <a:lstStyle/>
          <a:p>
            <a:pPr algn="ctr"/>
            <a:r>
              <a:rPr sz="1600" b="1">
                <a:solidFill>
                  <a:srgbClr val="C0392B"/>
                </a:solidFill>
              </a:rPr>
              <a:t>Plain BFS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151A2E"/>
                </a:solidFill>
              </a:rPr>
              <a:t>Finds the optimal path, but stores every node up to depth d in memory — O(b^(d+1)) space. Impractical for on-board embedded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441448"/>
            <a:ext cx="3429000" cy="2834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rtlCol="0" anchor="ctr"/>
          <a:lstStyle/>
          <a:p>
            <a:pPr algn="ctr"/>
            <a:r>
              <a:rPr sz="1600" b="1">
                <a:solidFill>
                  <a:srgbClr val="277D4B"/>
                </a:solidFill>
              </a:rPr>
              <a:t>Iterative Deepening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151A2E"/>
                </a:solidFill>
              </a:rPr>
              <a:t>Finds the optimal path (steps = battery used) using only O(b·d) memory — linear space, ideal for constrained on-board compute.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4 — WHEN IDS BEHAVES POORLY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Negative Example — Battery Robot With Recharge Cells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51A2E"/>
                </a:solidFill>
                <a:latin typeface="Calibri"/>
              </a:rPr>
              <a:t>Battery k = 6. A recharge cell sits 4 steps away and restores full battery. The true optimal path needs 10 steps total, passing through the recharge cell — physically feasible, since the battery never actually runs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87168"/>
            <a:ext cx="5303520" cy="25146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500" b="1">
                <a:solidFill>
                  <a:srgbClr val="C0392B"/>
                </a:solidFill>
              </a:rPr>
              <a:t>Naive fix: depth limit = battery counter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If the DLS depth cutoff is tied only to a step counter capped at k=6, IDS NEVER finds the 10-step solution — even though it is physically reachable. Depth stops corresponding to the real constraint (battery) once recharge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487168"/>
            <a:ext cx="5303520" cy="25146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500" b="1">
                <a:solidFill>
                  <a:srgbClr val="C0392B"/>
                </a:solidFill>
              </a:rPr>
              <a:t>Correct fix: state = (x, y, battery)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IDS now works correctly, but loses its elegance: the depth limit is purely an algorithmic device again, no longer aligned with a physical resource. Uniform-Cost Search or A* (cost = net battery consumption) become conceptually cleaner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1">
                <a:solidFill>
                  <a:srgbClr val="E88B2E"/>
                </a:solidFill>
                <a:latin typeface="Calibri"/>
              </a:rPr>
              <a:t>Takeaway: IDS does not technically break (it stays complete) — but the structural assumption that makes it elegant and efficient silently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5 — FORMAL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Completeness, Optimality, Time and Space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64208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General (course formulas)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Robot with Battery (no recharge, cost=1/step)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A2E"/>
                          </a:solidFill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Yes, if b is finite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Yes — if k is used as the max iteration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A2E"/>
                          </a:solidFill>
                        </a:rPr>
                        <a:t>Optimality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Yes, if step cost = 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Yes — optimal in steps = optimal in battery used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A2E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O(b^d)  =  (d+1)b^0+d·b^1+...+b^d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Acceptable if d &lt;&lt; k and b is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A2E"/>
                          </a:solidFill>
                        </a:rPr>
                        <a:t>Space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O(b·d) — linear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A2E"/>
                          </a:solidFill>
                        </a:rPr>
                        <a:t>Crucial for embedded, memory-constrained hardware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70248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Critical remark: the O(b·d) space advantage is not free. IDS pays a small time overhead (roughly a factor b/(b−1) over DFS with known depth) because shallow levels are regenerated at every iteration. This is the real time/space trade-off — not a free lunch.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Hidden assumption: optimality holds only if cost = 1/step. If rough terrain drains more battery than smooth terrain, IDS still finds the fewest-steps path — not the lowest-battery-cost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6 — HEURISTIC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IDS Is Uninformed — But Consider Its Informed Cousin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1A2E"/>
                </a:solidFill>
                <a:latin typeface="Calibri"/>
              </a:rPr>
              <a:t>IDS uses only information available in the problem definition — no heuristic applies directly. Point (vi) of the assignment is therefore not applicable in the strict sense.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0008"/>
            <a:ext cx="10789920" cy="2194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700" b="1">
                <a:solidFill>
                  <a:srgbClr val="E88B2E"/>
                </a:solidFill>
              </a:rPr>
              <a:t>IDA* (Iterative Deepening A*)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400">
                <a:solidFill>
                  <a:srgbClr val="151A2E"/>
                </a:solidFill>
              </a:rPr>
              <a:t>Replaces the depth limit l with a bound on f(n) = g(n) + h(n). Preserves IDS's linear space complexity while correctly handling non-uniform costs — exactly the capability missing in plain IDS.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>
                <a:solidFill>
                  <a:srgbClr val="151A2E"/>
                </a:solidFill>
              </a:rPr>
              <a:t>Proposed heuristic for the battery robot: h(n) = Manhattan distance to goal, adjusted downward when a reachable recharge cell lies on the shortest path — never overestimating true remaining cost (admissible).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277D4B"/>
                </a:solidFill>
                <a:latin typeface="Calibri"/>
              </a:rPr>
              <a:t>Closing the loop: IDA* is precisely the fix for the negative example in Part 4 — it keeps IDS's memory efficiency while respecting the true, non-monotonic battery constraint.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A2E"/>
                </a:solidFill>
                <a:latin typeface="Calibri"/>
              </a:rPr>
              <a:t>Summary and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755648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0992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Elegant trade-off, not a shortcut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67128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IDS trades a small, bounded time overhead for linear space — but only pays off when depth is a faithful proxy for cost.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72968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2724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Modeling and algorithm are inseparable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84448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The battery robot shows that IDS's efficiency depends on an assumption about the state space (uniform cost), not just on the algorithm itself.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90288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445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Know the breaking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01768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Recharge cells break the depth-to-cost correspondence — the fix requires either a richer state or a different strategy (UCS, A*, IDA*).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Group Project — AI Search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CED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300" dirty="0">
                <a:solidFill>
                  <a:srgbClr val="9AA5B1"/>
                </a:solidFill>
                <a:latin typeface="Calibri"/>
              </a:rPr>
              <a:t>Tartaglia Francesco</a:t>
            </a:r>
            <a:endParaRPr sz="1300" b="0" i="0" dirty="0">
              <a:solidFill>
                <a:srgbClr val="9AA5B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1153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TARTAGLIA</cp:lastModifiedBy>
  <cp:revision>2</cp:revision>
  <dcterms:created xsi:type="dcterms:W3CDTF">2013-01-27T09:14:16Z</dcterms:created>
  <dcterms:modified xsi:type="dcterms:W3CDTF">2026-08-24T14:21:25Z</dcterms:modified>
  <cp:category/>
</cp:coreProperties>
</file>