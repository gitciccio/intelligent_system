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8B2E"/>
                </a:solidFill>
                <a:latin typeface="Calibri"/>
              </a:rPr>
              <a:t>MODELING SEARCH PROBLEMS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231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Robot with Limited Battery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CED6"/>
                </a:solidFill>
                <a:latin typeface="Calibri"/>
              </a:rPr>
              <a:t>State representation, formal specification, and search space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5B1"/>
                </a:solidFill>
                <a:latin typeface="Calibri"/>
              </a:rPr>
              <a:t>Companion case study to the Iterative Deepening Search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30936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300" dirty="0">
                <a:solidFill>
                  <a:srgbClr val="9AA5B1"/>
                </a:solidFill>
              </a:rPr>
              <a:t>Tartaglia Francesco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The Challenge: Autonomy Under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 i="0">
                <a:solidFill>
                  <a:srgbClr val="151A2E"/>
                </a:solidFill>
                <a:latin typeface="Calibri"/>
              </a:rPr>
              <a:t>A robot moves on a grid with obstacles. It has a maximum autonomy of k steps. Some cells recharge the battery to full capacity. The robot must reach a goal cell — but running out of battery strands it permanently.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10789920" cy="14630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/>
            <a:r>
              <a:rPr sz="1400" b="1">
                <a:solidFill>
                  <a:srgbClr val="E88B2E"/>
                </a:solidFill>
              </a:rPr>
              <a:t>CORE QUESTION</a:t>
            </a:r>
          </a:p>
          <a:p>
            <a:pPr>
              <a:spcBef>
                <a:spcPts val="1000"/>
              </a:spcBef>
            </a:pPr>
            <a:r>
              <a:rPr sz="1700" i="1">
                <a:solidFill>
                  <a:srgbClr val="151A2E"/>
                </a:solidFill>
              </a:rPr>
              <a:t>What belongs in the state, so that legality of future actions and the goal test depend only on the current state — not on the path taken to reach it?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1 — STATE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Two Candidate State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5120640" cy="228600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/>
            <a:r>
              <a:rPr sz="1700" b="1">
                <a:solidFill>
                  <a:srgbClr val="C0392B"/>
                </a:solidFill>
              </a:rPr>
              <a:t>WEAK — Inadequate ✗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151A2E"/>
                </a:solidFill>
                <a:latin typeface="Consolas"/>
              </a:rPr>
              <a:t>s = (x, y)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Physical position only. Discards remaining battery entirely.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691640"/>
            <a:ext cx="5120640" cy="228600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/>
            <a:r>
              <a:rPr sz="1700" b="1">
                <a:solidFill>
                  <a:srgbClr val="277D4B"/>
                </a:solidFill>
              </a:rPr>
              <a:t>ADEQUATE ✓</a:t>
            </a:r>
          </a:p>
          <a:p>
            <a:pPr>
              <a:spcBef>
                <a:spcPts val="600"/>
              </a:spcBef>
            </a:pPr>
            <a:r>
              <a:rPr sz="2000" b="1">
                <a:solidFill>
                  <a:srgbClr val="151A2E"/>
                </a:solidFill>
                <a:latin typeface="Consolas"/>
              </a:rPr>
              <a:t>s = (x, y, battery)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Position plus remaining autonomy, integer in [0, k]. Minimal and Markovian.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B66"/>
                </a:solidFill>
                <a:latin typeface="Calibri"/>
              </a:rPr>
              <a:t>Why not richer still? A third option — s = (x, y, battery, path-so-far) — would also be adequate but strictly larger: the full trajectory is irrelevant once (x, y, battery) is known. It is discussed on the next slide as the "too fine" extreme.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1 —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Why (x, y) Alone Is Inadequate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151A2E"/>
                </a:solidFill>
                <a:latin typeface="Calibri"/>
              </a:rPr>
              <a:t>The same physical cell can be reached with very different battery levels — and that difference determines what the robot can still do next.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31343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51A2E"/>
                </a:solidFill>
                <a:latin typeface="Calibri"/>
              </a:rPr>
              <a:t>Violates the Markov property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67919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Whether future moves are legal depends on remaining battery — information the (x, y) state discards. Two agents in the same cell but with different battery levels face different futures.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4787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51A2E"/>
                </a:solidFill>
                <a:latin typeface="Calibri"/>
              </a:rPr>
              <a:t>Goal test becomes ambiguous under resource exhaustion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91363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Reaching (x_goal, y_goal) with battery = 0 vs. battery &gt; 0 may both look identical as (x, y), but only one may allow further recovery if the goal test were extended (e.g., needing to return).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82312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51A2E"/>
                </a:solidFill>
                <a:latin typeface="Calibri"/>
              </a:rPr>
              <a:t>Identical cells, different feasibility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5148072"/>
            <a:ext cx="9966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A cell adjacent to a recharge point is fully exploitable at battery=1, but the same cell at battery=0 is a dead end. (x, y) cannot distinguish these.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2 — THE FOUR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Formal Problem Specification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257800" cy="1691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ctr"/>
          <a:lstStyle/>
          <a:p>
            <a:pPr algn="ctr"/>
            <a:r>
              <a:rPr sz="1500" b="1">
                <a:solidFill>
                  <a:srgbClr val="2E6F95"/>
                </a:solidFill>
              </a:rPr>
              <a:t>Initial State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51A2E"/>
                </a:solidFill>
                <a:latin typeface="Consolas"/>
              </a:rPr>
              <a:t>s0 = (x_start, y_start, k)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>
                <a:solidFill>
                  <a:srgbClr val="555B66"/>
                </a:solidFill>
              </a:rPr>
              <a:t>The robot begins at the entrance with a full battery.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45920"/>
            <a:ext cx="5257800" cy="1691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ctr"/>
          <a:lstStyle/>
          <a:p>
            <a:pPr algn="ctr"/>
            <a:r>
              <a:rPr sz="1500" b="1">
                <a:solidFill>
                  <a:srgbClr val="2E6F95"/>
                </a:solidFill>
              </a:rPr>
              <a:t>Successor Function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51A2E"/>
                </a:solidFill>
                <a:latin typeface="Consolas"/>
              </a:rPr>
              <a:t>S(x,y,b) -&gt; {N,S,E,W}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>
                <a:solidFill>
                  <a:srgbClr val="555B66"/>
                </a:solidFill>
              </a:rPr>
              <a:t>Legal only if target cell is valid; b'=k if recharge cell, else b'=b-1; no moves if b=0.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5257800" cy="1691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ctr"/>
          <a:lstStyle/>
          <a:p>
            <a:pPr algn="ctr"/>
            <a:r>
              <a:rPr sz="1500" b="1">
                <a:solidFill>
                  <a:srgbClr val="2E6F95"/>
                </a:solidFill>
              </a:rPr>
              <a:t>Goal Test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51A2E"/>
                </a:solidFill>
                <a:latin typeface="Consolas"/>
              </a:rPr>
              <a:t>(x, y) == (x_goal, y_goal)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>
                <a:solidFill>
                  <a:srgbClr val="555B66"/>
                </a:solidFill>
              </a:rPr>
              <a:t>Independent of battery level — reaching the cell is sufficient, even with battery = 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3611880"/>
            <a:ext cx="5257800" cy="169164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ctr"/>
          <a:lstStyle/>
          <a:p>
            <a:pPr algn="ctr"/>
            <a:r>
              <a:rPr sz="1500" b="1">
                <a:solidFill>
                  <a:srgbClr val="2E6F95"/>
                </a:solidFill>
              </a:rPr>
              <a:t>Path Cost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51A2E"/>
                </a:solidFill>
                <a:latin typeface="Consolas"/>
              </a:rPr>
              <a:t>c(x,a,y) = 1</a:t>
            </a:r>
          </a:p>
          <a:p>
            <a:pPr>
              <a:lnSpc>
                <a:spcPct val="115000"/>
              </a:lnSpc>
              <a:spcBef>
                <a:spcPts val="800"/>
              </a:spcBef>
            </a:pPr>
            <a:r>
              <a:rPr sz="1200">
                <a:solidFill>
                  <a:srgbClr val="555B66"/>
                </a:solidFill>
              </a:rPr>
              <a:t>Uniform cost of 1 per step. Total cost = number of actions executed.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2 — DETAIL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Successor Function: Transition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51A2E"/>
                </a:solidFill>
                <a:latin typeface="Calibri"/>
              </a:rPr>
              <a:t>A transition from (x, y, b) to (x', y', b') is legal only if all conditions hold: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19456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A2E"/>
                </a:solidFill>
                <a:latin typeface="Calibri"/>
              </a:rPr>
              <a:t>Battery available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5786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b &gt; 0. If b = 0, the robot is stranded: no successors exist.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56616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A2E"/>
                </a:solidFill>
                <a:latin typeface="Calibri"/>
              </a:rPr>
              <a:t>Valid target cell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9502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(x', y') is within grid boundaries and is not an obstacle.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93776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9204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51A2E"/>
                </a:solidFill>
                <a:latin typeface="Calibri"/>
              </a:rPr>
              <a:t>Battery update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32180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b' = k  if (x', y') is a recharge cell;  b' = b − 1  otherwise.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3 — SEARCH SPACE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Nodes vs. States in the Search Tree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120640" cy="20116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/>
            <a:r>
              <a:rPr sz="1700" b="1">
                <a:solidFill>
                  <a:srgbClr val="2E6F95"/>
                </a:solidFill>
              </a:rPr>
              <a:t>State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A configuration of the world: position plus remaining battery. States have no parent, no depth, no path cost.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554480"/>
            <a:ext cx="5120640" cy="201168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Ins="182880" rtlCol="0" anchor="ctr"/>
          <a:lstStyle/>
          <a:p>
            <a:pPr algn="ctr"/>
            <a:r>
              <a:rPr sz="1700" b="1">
                <a:solidFill>
                  <a:srgbClr val="E88B2E"/>
                </a:solidFill>
              </a:rPr>
              <a:t>Node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1350">
                <a:solidFill>
                  <a:srgbClr val="151A2E"/>
                </a:solidFill>
              </a:rPr>
              <a:t>A data structure in the search tree: holds the state, its parent, the action taken, path cost g(n), and depth.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151A2E"/>
                </a:solidFill>
                <a:latin typeface="Calibri"/>
              </a:rPr>
              <a:t>Many different nodes may share the same state: e.g., two different routes of equal length can both arrive at (3,3,4). They represent different ways of reaching the same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617720"/>
            <a:ext cx="10789920" cy="155448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77D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/>
            <a:r>
              <a:rPr sz="1500" b="1">
                <a:solidFill>
                  <a:srgbClr val="277D4B"/>
                </a:solidFill>
              </a:rPr>
              <a:t>Same physical cell, different logical states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1300">
                <a:solidFill>
                  <a:srgbClr val="151A2E"/>
                </a:solidFill>
              </a:rPr>
              <a:t>(x,y,4) and (x,y,1) are the SAME cell but DIFFERENT states — the robot may pass through the same cell twice, once with high battery and once nearly stranded. This distinction is essential for correctness.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3 — WHAT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Graph Search Meets the Weak Representation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0" i="0">
                <a:solidFill>
                  <a:srgbClr val="151A2E"/>
                </a:solidFill>
                <a:latin typeface="Calibri"/>
              </a:rPr>
              <a:t>Graph Search maintains an Explored Set to avoid revisiting states. With the weak representation (x, y), this set marks a cell as visited without knowing whether the robot still has battery left.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260604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300" b="1">
                <a:solidFill>
                  <a:srgbClr val="2E6F95"/>
                </a:solidFill>
              </a:rPr>
              <a:t>Step 1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50">
                <a:solidFill>
                  <a:srgbClr val="151A2E"/>
                </a:solidFill>
              </a:rPr>
              <a:t>Robot visits cell (5,5) with battery = 3, en route to a recharge point.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91840" y="2331720"/>
            <a:ext cx="260604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300" b="1">
                <a:solidFill>
                  <a:srgbClr val="E88B2E"/>
                </a:solidFill>
              </a:rPr>
              <a:t>Step 2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50">
                <a:solidFill>
                  <a:srgbClr val="151A2E"/>
                </a:solidFill>
              </a:rPr>
              <a:t>Graph Search marks (5,5) as EXPLORED — using only (x, y).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331720"/>
            <a:ext cx="2606040" cy="2103120"/>
          </a:xfrm>
          <a:prstGeom prst="roundRect">
            <a:avLst/>
          </a:prstGeom>
          <a:solidFill>
            <a:srgbClr val="F4F6F8"/>
          </a:solidFill>
          <a:ln w="19050">
            <a:solidFill>
              <a:srgbClr val="E88B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300" b="1">
                <a:solidFill>
                  <a:srgbClr val="E88B2E"/>
                </a:solidFill>
              </a:rPr>
              <a:t>Step 3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50">
                <a:solidFill>
                  <a:srgbClr val="151A2E"/>
                </a:solidFill>
              </a:rPr>
              <a:t>A later, better path reaches (5,5) with battery = 1, about to reach a different recharge route.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2331720"/>
            <a:ext cx="2606040" cy="2103120"/>
          </a:xfrm>
          <a:prstGeom prst="roundRect">
            <a:avLst/>
          </a:prstGeom>
          <a:solidFill>
            <a:srgbClr val="FCECEA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37160" rtlCol="0" anchor="ctr"/>
          <a:lstStyle/>
          <a:p>
            <a:pPr algn="ctr"/>
            <a:r>
              <a:rPr sz="1300" b="1">
                <a:solidFill>
                  <a:srgbClr val="C0392B"/>
                </a:solidFill>
              </a:rPr>
              <a:t>Step 4</a:t>
            </a:r>
          </a:p>
          <a:p>
            <a:pPr>
              <a:lnSpc>
                <a:spcPct val="120000"/>
              </a:lnSpc>
              <a:spcBef>
                <a:spcPts val="800"/>
              </a:spcBef>
            </a:pPr>
            <a:r>
              <a:rPr sz="1150">
                <a:solidFill>
                  <a:srgbClr val="151A2E"/>
                </a:solidFill>
              </a:rPr>
              <a:t>This path is PRUNED because (5,5) is already "explored" — even though it represents a different, possibly necessary, state.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1">
                <a:solidFill>
                  <a:srgbClr val="277D4B"/>
                </a:solidFill>
                <a:latin typeface="Calibri"/>
              </a:rPr>
              <a:t>The takeaway: state design and algorithm correctness are inseparable. Only (x, y, battery) prevents this over-pruning.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PART 3 — ABSTRACTION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What Makes a Representation Too Coarse or Too Fine?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0789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Representation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Problem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Consequence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A2E"/>
                          </a:solidFill>
                        </a:rPr>
                        <a:t>(x, y)  —  too coarse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Discards battery level entirely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Violates Markov property; Graph Search over-prunes valid paths (see previous slide)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A2E"/>
                          </a:solidFill>
                        </a:rPr>
                        <a:t>(x, y, battery)  —  adequate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None — minimal sufficient statistic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Markovian, compact, correctness preserved under Graph Search</a:t>
                      </a:r>
                    </a:p>
                  </a:txBody>
                  <a:tcPr>
                    <a:solidFill>
                      <a:srgbClr val="EAF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51A2E"/>
                          </a:solidFill>
                        </a:rPr>
                        <a:t>(x, y, battery, path)  —  too fine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Includes full trajectory history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51A2E"/>
                          </a:solidFill>
                        </a:rPr>
                        <a:t>State explosion: identical configurations counted as distinct states; cycles undetected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555B66"/>
                </a:solidFill>
                <a:latin typeface="Calibri"/>
              </a:rPr>
              <a:t>General principle: a representation is too coarse when it collapses states that differ in future feasibility (violates Markov). It is too fine when it distinguishes states that are behaviorally identical going forward — inflating the search space without adding decision-relevant 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OPTIONAL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Empirical Validation — Scenario A (No Recharge)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1A2E"/>
                </a:solidFill>
                <a:latin typeface="Calibri"/>
              </a:rPr>
              <a:t>7x7 grid, k=14, no recharge cells, optimal solution depth = 12 steps. Comparing BFS, UCS, and two variants of IDS.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4028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Solution Cost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Nodes Generated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BFS (graph search)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UCS (graph search)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415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IDS — tree search (no dedup)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238,883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IDS — graph search (shared explored set)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1,707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00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555B66"/>
                </a:solidFill>
                <a:latin typeface="Calibri"/>
              </a:rPr>
              <a:t>Key finding: plain tree-search IDS explodes to 238,883 nodes — far worse than BFS. This confirms the course material's warning: "Failure to detect repeated states can turn a linear problem into an exponential one." Adding a shared explored set (graph search) brings IDS down to 1,707 — still more than BFS, the real price of IDS's O(b·d) space advantage.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OPTIONAL —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Empirical Validation — Scenario B (With Recharge)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51A2E"/>
                </a:solidFill>
                <a:latin typeface="Calibri"/>
              </a:rPr>
              <a:t>7x7 grid, k=6, one recharge cell. The true optimal path requires 12 steps, passing through the recharge cell.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24028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Solution Cost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Nodes Generated</a:t>
                      </a:r>
                    </a:p>
                  </a:txBody>
                  <a:tcPr>
                    <a:solidFill>
                      <a:srgbClr val="2E6F9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BFS (graph search)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UCS (graph search)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201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IDS naive (depth capped at k=6)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NO SOLUTION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C0392B"/>
                          </a:solidFill>
                        </a:rPr>
                        <a:t>189</a:t>
                      </a:r>
                    </a:p>
                  </a:txBody>
                  <a:tcPr>
                    <a:solidFill>
                      <a:srgbClr val="FCEC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51A2E"/>
                          </a:solidFill>
                        </a:rPr>
                        <a:t>IDS correct (depth decoupled from k)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51A2E"/>
                          </a:solidFill>
                        </a:rPr>
                        <a:t>834</a:t>
                      </a:r>
                    </a:p>
                  </a:txBody>
                  <a:tcPr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480060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555B66"/>
                </a:solidFill>
                <a:latin typeface="Calibri"/>
              </a:rPr>
              <a:t>Key finding: naive IDS — which wrongly treats its depth limit as if it coincided with the true battery budget k — fails to find ANY solution, even though one exists. Only by decoupling the iteration limit from k (and keeping battery inside the state) does IDS become correct again, at the cost of extra node generation (834 vs. 198 for BFS).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8B2E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51A2E"/>
                </a:solidFill>
                <a:latin typeface="Calibri"/>
              </a:rPr>
              <a:t>Summary and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16736"/>
            <a:ext cx="10972800" cy="254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64592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Minimal Markovian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031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(x, y, battery) is the smallest representation that keeps future legality and the goal test dependent only on the current state.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6324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Coarse representations silently corrupt Graph 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5204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Dropping battery from the state causes the explored set to prune paths that are actually still valid — not a performance issue, a correctness bug.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26280"/>
            <a:ext cx="548640" cy="548640"/>
          </a:xfrm>
          <a:prstGeom prst="ellipse">
            <a:avLst/>
          </a:prstGeom>
          <a:solidFill>
            <a:srgbClr val="2E6F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805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51A2E"/>
                </a:solidFill>
                <a:latin typeface="Calibri"/>
              </a:rPr>
              <a:t>Modeling and algorithm choice are linked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93776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555B66"/>
                </a:solidFill>
                <a:latin typeface="Calibri"/>
              </a:rPr>
              <a:t>The same state design that makes the problem correct also determines whether strategies like IDS can exploit structure (Scenario A) or must pay extra cost / fail outright (Scenario B).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E8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C9CED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035040"/>
            <a:ext cx="100584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300" dirty="0">
                <a:solidFill>
                  <a:srgbClr val="9AA5B1"/>
                </a:solidFill>
              </a:rPr>
              <a:t>Tartaglia Francesco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1534</Words>
  <Application>Microsoft Office PowerPoint</Application>
  <PresentationFormat>Widescreen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FRANCESCO TARTAGLIA</cp:lastModifiedBy>
  <cp:revision>3</cp:revision>
  <dcterms:created xsi:type="dcterms:W3CDTF">2013-01-27T09:14:16Z</dcterms:created>
  <dcterms:modified xsi:type="dcterms:W3CDTF">2026-08-24T17:50:04Z</dcterms:modified>
  <cp:category/>
</cp:coreProperties>
</file>