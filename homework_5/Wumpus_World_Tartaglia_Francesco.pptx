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2191695" cy="38100"/>
          </a:xfrm>
          <a:prstGeom prst="rect">
            <a:avLst/>
          </a:prstGeom>
          <a:solidFill>
            <a:srgbClr val="E88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8B2E"/>
                </a:solidFill>
                <a:latin typeface="Calibri"/>
              </a:rPr>
              <a:t>LOGICAL REPRESENTATION &amp; INFERENCE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False vs. Unknown in the Wumpus World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29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9CED6"/>
                </a:solidFill>
                <a:latin typeface="Calibri"/>
              </a:rPr>
              <a:t>How logical representation lets an agent reason under partial observability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AA5B1"/>
                </a:solidFill>
                <a:latin typeface="Calibri"/>
              </a:rPr>
              <a:t>Artificial Intelligence Coursework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Tartaglia Francesco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8B2E"/>
                </a:solidFill>
                <a:latin typeface="Calibr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51A2E"/>
                </a:solidFill>
                <a:latin typeface="Calibri"/>
              </a:rPr>
              <a:t>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16736"/>
            <a:ext cx="10972800" cy="254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9875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800"/>
              </a:spcAft>
            </a:pPr>
            <a:r>
              <a:rPr sz="1900">
                <a:solidFill>
                  <a:srgbClr val="151A2E"/>
                </a:solidFill>
                <a:latin typeface="Calibri"/>
              </a:rPr>
              <a:t>•  Part A — The General Knowledge Base: vocabulary, rules, assumptions</a:t>
            </a:r>
          </a:p>
          <a:p>
            <a:pPr>
              <a:lnSpc>
                <a:spcPct val="150000"/>
              </a:lnSpc>
              <a:spcAft>
                <a:spcPts val="1800"/>
              </a:spcAft>
            </a:pPr>
            <a:r>
              <a:rPr sz="1900">
                <a:solidFill>
                  <a:srgbClr val="151A2E"/>
                </a:solidFill>
                <a:latin typeface="Calibri"/>
              </a:rPr>
              <a:t>•  Part B — Reasoning on a Specific Instance: classifying [2,2], [3,1], [1,3]</a:t>
            </a:r>
          </a:p>
          <a:p>
            <a:pPr>
              <a:lnSpc>
                <a:spcPct val="150000"/>
              </a:lnSpc>
              <a:spcAft>
                <a:spcPts val="1800"/>
              </a:spcAft>
            </a:pPr>
            <a:r>
              <a:rPr sz="1900">
                <a:solidFill>
                  <a:srgbClr val="151A2E"/>
                </a:solidFill>
                <a:latin typeface="Calibri"/>
              </a:rPr>
              <a:t>•  Part C — Active Reasoning: choosing the next rational move</a:t>
            </a:r>
          </a:p>
          <a:p>
            <a:pPr>
              <a:lnSpc>
                <a:spcPct val="150000"/>
              </a:lnSpc>
              <a:spcAft>
                <a:spcPts val="1800"/>
              </a:spcAft>
            </a:pPr>
            <a:r>
              <a:rPr sz="1900">
                <a:solidFill>
                  <a:srgbClr val="151A2E"/>
                </a:solidFill>
                <a:latin typeface="Calibri"/>
              </a:rPr>
              <a:t>•  Conclusion — Why the false/unknown distinction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B66"/>
                </a:solidFill>
                <a:latin typeface="Calibri"/>
              </a:rPr>
              <a:t>Tartaglia Francesco — AI Coursework: Wumpus World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8B2E"/>
                </a:solidFill>
                <a:latin typeface="Calibri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51A2E"/>
                </a:solidFill>
                <a:latin typeface="Calibri"/>
              </a:rPr>
              <a:t>The Core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16736"/>
            <a:ext cx="10972800" cy="254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51A2E"/>
                </a:solidFill>
                <a:latin typeface="Calibri"/>
              </a:rPr>
              <a:t>A boolean array can only say TRUE or FALSE. It cannot represent "I don't know." A logic-based Knowledge Base (KB) can: if the KB entails neither a proposition nor its negation, the agent correctly recognizes the state as UNKNOWN, rather than guessing.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43200"/>
            <a:ext cx="3383280" cy="1828800"/>
          </a:xfrm>
          <a:prstGeom prst="roundRect">
            <a:avLst/>
          </a:prstGeom>
          <a:solidFill>
            <a:srgbClr val="EAF7EE"/>
          </a:solidFill>
          <a:ln w="19050">
            <a:solidFill>
              <a:srgbClr val="277D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/>
            <a:r>
              <a:rPr b="1" sz="1700">
                <a:solidFill>
                  <a:srgbClr val="277D4B"/>
                </a:solidFill>
              </a:rPr>
              <a:t>Provably Safe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400">
                <a:solidFill>
                  <a:srgbClr val="151A2E"/>
                </a:solidFill>
              </a:rPr>
              <a:t>The KB entails the cell is safe.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2743200"/>
            <a:ext cx="3383280" cy="1828800"/>
          </a:xfrm>
          <a:prstGeom prst="roundRect">
            <a:avLst/>
          </a:prstGeom>
          <a:solidFill>
            <a:srgbClr val="FCECEA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/>
            <a:r>
              <a:rPr b="1" sz="1700">
                <a:solidFill>
                  <a:srgbClr val="C0392B"/>
                </a:solidFill>
              </a:rPr>
              <a:t>Provably Deadly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400">
                <a:solidFill>
                  <a:srgbClr val="151A2E"/>
                </a:solidFill>
              </a:rPr>
              <a:t>The KB entails the cell contains a threat.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743200"/>
            <a:ext cx="3383280" cy="1828800"/>
          </a:xfrm>
          <a:prstGeom prst="roundRect">
            <a:avLst/>
          </a:prstGeom>
          <a:solidFill>
            <a:srgbClr val="FDF2E3"/>
          </a:solidFill>
          <a:ln w="19050">
            <a:solidFill>
              <a:srgbClr val="E88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/>
            <a:r>
              <a:rPr b="1" sz="1700">
                <a:solidFill>
                  <a:srgbClr val="E88B2E"/>
                </a:solidFill>
              </a:rPr>
              <a:t>Unknown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400">
                <a:solidFill>
                  <a:srgbClr val="151A2E"/>
                </a:solidFill>
              </a:rPr>
              <a:t>The KB entails neither safety nor threat.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B66"/>
                </a:solidFill>
                <a:latin typeface="Calibri"/>
              </a:rPr>
              <a:t>Tartaglia Francesco — AI Coursework: Wumpus World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8B2E"/>
                </a:solidFill>
                <a:latin typeface="Calibri"/>
              </a:rPr>
              <a:t>PART A —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51A2E"/>
                </a:solidFill>
                <a:latin typeface="Calibri"/>
              </a:rPr>
              <a:t>Choice of Formalism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16736"/>
            <a:ext cx="10972800" cy="254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50" b="0" i="0">
                <a:solidFill>
                  <a:srgbClr val="151A2E"/>
                </a:solidFill>
                <a:latin typeface="Calibri"/>
              </a:rPr>
              <a:t>Propositional Logic is used as the primary formalism: sufficient for a finite 4x4 domain, while remaining fully explicit and easy to verify. A First-Order Logic (FOL) generalization is given as a bonus.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5120640" cy="201168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2E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182880"/>
          <a:lstStyle/>
          <a:p>
            <a:pPr algn="ctr"/>
            <a:r>
              <a:rPr b="1" sz="1600">
                <a:solidFill>
                  <a:srgbClr val="2E6F95"/>
                </a:solidFill>
              </a:rPr>
              <a:t>Propositional Logic — Primary</a:t>
            </a:r>
          </a:p>
          <a:p>
            <a:pPr>
              <a:lnSpc>
                <a:spcPct val="125000"/>
              </a:lnSpc>
              <a:spcBef>
                <a:spcPts val="1000"/>
              </a:spcBef>
            </a:pPr>
            <a:r>
              <a:rPr sz="1350">
                <a:solidFill>
                  <a:srgbClr val="151A2E"/>
                </a:solidFill>
              </a:rPr>
              <a:t>One symbol per cell per predicate (16 cells x 5 predicates = 80 propositions). Fully explicit, ideal for a finite, small grid.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423160"/>
            <a:ext cx="5394960" cy="201168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E88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182880"/>
          <a:lstStyle/>
          <a:p>
            <a:pPr algn="ctr"/>
            <a:r>
              <a:rPr b="1" sz="1600">
                <a:solidFill>
                  <a:srgbClr val="E88B2E"/>
                </a:solidFill>
              </a:rPr>
              <a:t>First-Order Logic — Bonus</a:t>
            </a:r>
          </a:p>
          <a:p>
            <a:pPr>
              <a:lnSpc>
                <a:spcPct val="125000"/>
              </a:lnSpc>
              <a:spcBef>
                <a:spcPts val="1000"/>
              </a:spcBef>
            </a:pPr>
            <a:r>
              <a:rPr sz="1350">
                <a:solidFill>
                  <a:srgbClr val="151A2E"/>
                </a:solidFill>
              </a:rPr>
              <a:t>One general rule with quantifiers and an Adjacent(x,y,i,j) predicate, instead of enumerating every coordinate pair.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B66"/>
                </a:solidFill>
                <a:latin typeface="Calibri"/>
              </a:rPr>
              <a:t>Tartaglia Francesco — AI Coursework: Wumpus World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8B2E"/>
                </a:solidFill>
                <a:latin typeface="Calibri"/>
              </a:rPr>
              <a:t>PART A.1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51A2E"/>
                </a:solidFill>
                <a:latin typeface="Calibri"/>
              </a:rPr>
              <a:t>Vocabulary — Propositional Symbols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16736"/>
            <a:ext cx="10972800" cy="254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51A2E"/>
                </a:solidFill>
                <a:latin typeface="Calibri"/>
              </a:rPr>
              <a:t>Let x, y ∈ {1,2,3,4} be grid coordinates. For each cell [x,y]: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78992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863840"/>
              </a:tblGrid>
              <a:tr h="56388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Symbol</a:t>
                      </a:r>
                    </a:p>
                  </a:txBody>
                  <a:tcPr>
                    <a:solidFill>
                      <a:srgbClr val="2E6F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>
                    <a:solidFill>
                      <a:srgbClr val="2E6F95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E6F95"/>
                          </a:solidFill>
                          <a:latin typeface="Consolas"/>
                        </a:rPr>
                        <a:t>Px,y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51A2E"/>
                          </a:solidFill>
                        </a:rPr>
                        <a:t>A Pit is located in cell [x,y]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E6F95"/>
                          </a:solidFill>
                          <a:latin typeface="Consolas"/>
                        </a:rPr>
                        <a:t>Wx,y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51A2E"/>
                          </a:solidFill>
                        </a:rPr>
                        <a:t>The Wumpus is located in cell [x,y]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E6F95"/>
                          </a:solidFill>
                          <a:latin typeface="Consolas"/>
                        </a:rPr>
                        <a:t>Bx,y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51A2E"/>
                          </a:solidFill>
                        </a:rPr>
                        <a:t>The agent perceives a Breeze in cell [x,y]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E6F95"/>
                          </a:solidFill>
                          <a:latin typeface="Consolas"/>
                        </a:rPr>
                        <a:t>Sx,y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51A2E"/>
                          </a:solidFill>
                        </a:rPr>
                        <a:t>The agent perceives a Stench in cell [x,y]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E6F95"/>
                          </a:solidFill>
                          <a:latin typeface="Consolas"/>
                        </a:rPr>
                        <a:t>OKx,y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51A2E"/>
                          </a:solidFill>
                        </a:rPr>
                        <a:t>Cell [x,y] is safe (no Pit and no Wumpus)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B66"/>
                </a:solidFill>
                <a:latin typeface="Calibri"/>
              </a:rPr>
              <a:t>Tartaglia Francesco — AI Coursework: Wumpus World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8B2E"/>
                </a:solidFill>
                <a:latin typeface="Calibri"/>
              </a:rPr>
              <a:t>PART A.2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51A2E"/>
                </a:solidFill>
                <a:latin typeface="Calibri"/>
              </a:rPr>
              <a:t>General Rules: Breeze/Pit and Stench/Wumpus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16736"/>
            <a:ext cx="10972800" cy="254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8B2E"/>
                </a:solidFill>
                <a:latin typeface="Calibri"/>
              </a:rPr>
              <a:t>Causal relationships are formalized with logical BICONDITIONALS (⇔) — not one-way implications.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48840"/>
            <a:ext cx="5257800" cy="173736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2E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37160" rIns="137160"/>
          <a:lstStyle/>
          <a:p>
            <a:pPr algn="ctr"/>
            <a:r>
              <a:rPr b="1" sz="1500">
                <a:solidFill>
                  <a:srgbClr val="2E6F95"/>
                </a:solidFill>
              </a:rPr>
              <a:t>Breeze Rule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51A2E"/>
                </a:solidFill>
                <a:latin typeface="Consolas"/>
              </a:rPr>
              <a:t>Bx,y ⇔ (Px-1,y ∨ Px+1,y ∨ Px,y-1 ∨ Px,y+1)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250" i="1">
                <a:solidFill>
                  <a:srgbClr val="555B66"/>
                </a:solidFill>
              </a:rPr>
              <a:t>A cell is breezy iff there is a Pit in an adjacent cell.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148840"/>
            <a:ext cx="5257800" cy="173736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2E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37160" rIns="137160"/>
          <a:lstStyle/>
          <a:p>
            <a:pPr algn="ctr"/>
            <a:r>
              <a:rPr b="1" sz="1500">
                <a:solidFill>
                  <a:srgbClr val="2E6F95"/>
                </a:solidFill>
              </a:rPr>
              <a:t>Stench Rule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51A2E"/>
                </a:solidFill>
                <a:latin typeface="Consolas"/>
              </a:rPr>
              <a:t>Sx,y ⇔ (Wx-1,y ∨ Wx+1,y ∨ Wx,y-1 ∨ Wx,y+1)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250" i="1">
                <a:solidFill>
                  <a:srgbClr val="555B66"/>
                </a:solidFill>
              </a:rPr>
              <a:t>A cell is smelly iff the Wumpus is in an adjacent cell.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69080"/>
            <a:ext cx="10744200" cy="1371600"/>
          </a:xfrm>
          <a:prstGeom prst="roundRect">
            <a:avLst/>
          </a:prstGeom>
          <a:solidFill>
            <a:srgbClr val="EAF7EE"/>
          </a:solidFill>
          <a:ln w="19050">
            <a:solidFill>
              <a:srgbClr val="277D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 rIns="182880"/>
          <a:lstStyle/>
          <a:p>
            <a:pPr algn="ctr"/>
            <a:r>
              <a:rPr b="1" sz="1500">
                <a:solidFill>
                  <a:srgbClr val="277D4B"/>
                </a:solidFill>
              </a:rPr>
              <a:t>Safety Rule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51A2E"/>
                </a:solidFill>
                <a:latin typeface="Consolas"/>
              </a:rPr>
              <a:t>OKx,y ⇔ (¬Px,y ∧ ¬Wx,y)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250" i="1">
                <a:solidFill>
                  <a:srgbClr val="555B66"/>
                </a:solidFill>
              </a:rPr>
              <a:t>A cell is safe iff it contains no Pit and no Wumpus.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5778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1">
                <a:solidFill>
                  <a:srgbClr val="C0392B"/>
                </a:solidFill>
                <a:latin typeface="Calibri"/>
              </a:rPr>
              <a:t>Why biconditionals, not implications: with (⇒) only, the agent could deduce a percept FROM a hazard, but never infer the ABSENCE of a hazard from the absence of a percept — exactly the inference needed to prove safety.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B66"/>
                </a:solidFill>
                <a:latin typeface="Calibri"/>
              </a:rPr>
              <a:t>Tartaglia Francesco — AI Coursework: Wumpus World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8B2E"/>
                </a:solidFill>
                <a:latin typeface="Calibri"/>
              </a:rPr>
              <a:t>PART A — BONUS &amp; A.3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51A2E"/>
                </a:solidFill>
                <a:latin typeface="Calibri"/>
              </a:rPr>
              <a:t>FOL Generalization and Assumptions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16736"/>
            <a:ext cx="10972800" cy="254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10744200" cy="1371600"/>
          </a:xfrm>
          <a:prstGeom prst="roundRect">
            <a:avLst/>
          </a:prstGeom>
          <a:solidFill>
            <a:srgbClr val="FDF2E3"/>
          </a:solidFill>
          <a:ln w="19050">
            <a:solidFill>
              <a:srgbClr val="E88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 rIns="182880"/>
          <a:lstStyle/>
          <a:p>
            <a:pPr algn="ctr"/>
            <a:r>
              <a:rPr b="1" sz="1500">
                <a:solidFill>
                  <a:srgbClr val="E88B2E"/>
                </a:solidFill>
              </a:rPr>
              <a:t>BONUS — First-Order Logic form of the Breeze Rule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151A2E"/>
                </a:solidFill>
                <a:latin typeface="Consolas"/>
              </a:rPr>
              <a:t>∀x,y ( B(x,y) ⇔ ∃i,j ( Adjacent(x,y,i,j) ∧ Pit(i,j) ) )</a:t>
            </a:r>
          </a:p>
          <a:p>
            <a:pPr>
              <a:spcBef>
                <a:spcPts val="600"/>
              </a:spcBef>
            </a:pPr>
            <a:r>
              <a:rPr sz="1250" i="1">
                <a:solidFill>
                  <a:srgbClr val="555B66"/>
                </a:solidFill>
              </a:rPr>
              <a:t>Generalizes the rule without enumerating every coordinate pair.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51A2E"/>
                </a:solidFill>
                <a:latin typeface="Calibri"/>
              </a:rPr>
              <a:t>Assumptions (axiomatic truths in the KB)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611880"/>
            <a:ext cx="502920" cy="502920"/>
          </a:xfrm>
          <a:prstGeom prst="ellipse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7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593592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51A2E"/>
                </a:solidFill>
                <a:latin typeface="Calibri"/>
              </a:rPr>
              <a:t>Initial Safe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776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55B66"/>
                </a:solidFill>
                <a:latin typeface="Calibri"/>
              </a:rPr>
              <a:t>The starting cell [1,1] is safe: ¬P1,1 ∧ ¬W1,1.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663440"/>
            <a:ext cx="502920" cy="502920"/>
          </a:xfrm>
          <a:prstGeom prst="ellipse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7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645152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51A2E"/>
                </a:solidFill>
                <a:latin typeface="Calibri"/>
              </a:rPr>
              <a:t>Single Wumpus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0292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55B66"/>
                </a:solidFill>
                <a:latin typeface="Calibri"/>
              </a:rPr>
              <a:t>There is exactly one Wumpus in the entire grid.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B66"/>
                </a:solidFill>
                <a:latin typeface="Calibri"/>
              </a:rPr>
              <a:t>Tartaglia Francesco — AI Coursework: Wumpus World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8B2E"/>
                </a:solidFill>
                <a:latin typeface="Calibri"/>
              </a:rPr>
              <a:t>REASONING ON A SPECIFIC INSTANCE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51A2E"/>
                </a:solidFill>
                <a:latin typeface="Calibri"/>
              </a:rPr>
              <a:t>Part B — The Observations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16736"/>
            <a:ext cx="10972800" cy="254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51A2E"/>
                </a:solidFill>
                <a:latin typeface="Calibri"/>
              </a:rPr>
              <a:t>The agent has visited three cells and asserts the following percepts into the KB: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3429000" cy="237744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2E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37160"/>
          <a:lstStyle/>
          <a:p>
            <a:pPr algn="ctr"/>
            <a:r>
              <a:rPr b="1" sz="1800">
                <a:solidFill>
                  <a:srgbClr val="2E6F95"/>
                </a:solidFill>
              </a:rPr>
              <a:t>Cell [1,1]</a:t>
            </a:r>
          </a:p>
          <a:p>
            <a:pPr>
              <a:spcBef>
                <a:spcPts val="1200"/>
              </a:spcBef>
            </a:pPr>
            <a:r>
              <a:rPr b="1" sz="1500">
                <a:solidFill>
                  <a:srgbClr val="151A2E"/>
                </a:solidFill>
                <a:latin typeface="Consolas"/>
              </a:rPr>
              <a:t>¬B1,1 ∧ ¬S1,1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sz="1250" i="1">
                <a:solidFill>
                  <a:srgbClr val="555B66"/>
                </a:solidFill>
              </a:rPr>
              <a:t>No Breeze, no Stench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2240280"/>
            <a:ext cx="3429000" cy="237744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2E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37160"/>
          <a:lstStyle/>
          <a:p>
            <a:pPr algn="ctr"/>
            <a:r>
              <a:rPr b="1" sz="1800">
                <a:solidFill>
                  <a:srgbClr val="2E6F95"/>
                </a:solidFill>
              </a:rPr>
              <a:t>Cell [2,1]</a:t>
            </a:r>
          </a:p>
          <a:p>
            <a:pPr>
              <a:spcBef>
                <a:spcPts val="1200"/>
              </a:spcBef>
            </a:pPr>
            <a:r>
              <a:rPr b="1" sz="1500">
                <a:solidFill>
                  <a:srgbClr val="151A2E"/>
                </a:solidFill>
                <a:latin typeface="Consolas"/>
              </a:rPr>
              <a:t>B2,1 ∧ ¬S2,1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sz="1250" i="1">
                <a:solidFill>
                  <a:srgbClr val="555B66"/>
                </a:solidFill>
              </a:rPr>
              <a:t>Breeze, no Stench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2240280"/>
            <a:ext cx="3429000" cy="237744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2E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37160"/>
          <a:lstStyle/>
          <a:p>
            <a:pPr algn="ctr"/>
            <a:r>
              <a:rPr b="1" sz="1800">
                <a:solidFill>
                  <a:srgbClr val="2E6F95"/>
                </a:solidFill>
              </a:rPr>
              <a:t>Cell [1,2]</a:t>
            </a:r>
          </a:p>
          <a:p>
            <a:pPr>
              <a:spcBef>
                <a:spcPts val="1200"/>
              </a:spcBef>
            </a:pPr>
            <a:r>
              <a:rPr b="1" sz="1500">
                <a:solidFill>
                  <a:srgbClr val="151A2E"/>
                </a:solidFill>
                <a:latin typeface="Consolas"/>
              </a:rPr>
              <a:t>¬B1,2  (S1,2 unknown)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sz="1250" i="1">
                <a:solidFill>
                  <a:srgbClr val="555B66"/>
                </a:solidFill>
              </a:rPr>
              <a:t>No Breeze — partial observation, Stench not reported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46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1">
                <a:solidFill>
                  <a:srgbClr val="E88B2E"/>
                </a:solidFill>
                <a:latin typeface="Calibri"/>
              </a:rPr>
              <a:t>Note the crucial asymmetry: [1,2] gives a partial observation — this missing Stench data is precisely what will later leave [1,3] as UNKNOWN rather than resolved.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B66"/>
                </a:solidFill>
                <a:latin typeface="Calibri"/>
              </a:rPr>
              <a:t>Tartaglia Francesco — AI Coursework: Wumpus World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8B2E"/>
                </a:solidFill>
                <a:latin typeface="Calibri"/>
              </a:rPr>
              <a:t>PART B — VISUAL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51A2E"/>
                </a:solidFill>
                <a:latin typeface="Calibri"/>
              </a:rPr>
              <a:t>Grid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16736"/>
            <a:ext cx="10972800" cy="254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645920"/>
          <a:ext cx="512064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</a:tblGrid>
              <a:tr h="12801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51A2E"/>
                          </a:solidFill>
                        </a:rPr>
                        <a:t>[1,4]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51A2E"/>
                          </a:solidFill>
                        </a:rPr>
                        <a:t>[2,4]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51A2E"/>
                          </a:solidFill>
                        </a:rPr>
                        <a:t>[3,4]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51A2E"/>
                          </a:solidFill>
                        </a:rPr>
                        <a:t>[4,4]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51A2E"/>
                          </a:solidFill>
                        </a:rPr>
                        <a:t>[1,3]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151A2E"/>
                          </a:solidFill>
                        </a:rPr>
                        <a:t>?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151A2E"/>
                          </a:solidFill>
                        </a:rPr>
                        <a:t>Unknown</a:t>
                      </a:r>
                    </a:p>
                  </a:txBody>
                  <a:tcPr>
                    <a:solidFill>
                      <a:srgbClr val="FDF2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51A2E"/>
                          </a:solidFill>
                        </a:rPr>
                        <a:t>[2,3]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51A2E"/>
                          </a:solidFill>
                        </a:rPr>
                        <a:t>[3,3]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51A2E"/>
                          </a:solidFill>
                        </a:rPr>
                        <a:t>[4,3]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51A2E"/>
                          </a:solidFill>
                        </a:rPr>
                        <a:t>[1,2]</a:t>
                      </a:r>
                    </a:p>
                    <a:p>
                      <a:pPr algn="ctr"/>
                      <a:r>
                        <a:rPr sz="1100">
                          <a:solidFill>
                            <a:srgbClr val="151A2E"/>
                          </a:solidFill>
                        </a:rPr>
                        <a:t>No Breeze</a:t>
                      </a:r>
                    </a:p>
                    <a:p>
                      <a:pPr algn="ctr"/>
                      <a:r>
                        <a:rPr sz="1100">
                          <a:solidFill>
                            <a:srgbClr val="151A2E"/>
                          </a:solidFill>
                        </a:rPr>
                        <a:t>Visited (partial)</a:t>
                      </a:r>
                    </a:p>
                  </a:txBody>
                  <a:tcPr>
                    <a:solidFill>
                      <a:srgbClr val="EAF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51A2E"/>
                          </a:solidFill>
                        </a:rPr>
                        <a:t>[2,2]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151A2E"/>
                          </a:solidFill>
                        </a:rPr>
                        <a:t>?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151A2E"/>
                          </a:solidFill>
                        </a:rPr>
                        <a:t>Provably Safe</a:t>
                      </a:r>
                    </a:p>
                  </a:txBody>
                  <a:tcPr>
                    <a:solidFill>
                      <a:srgbClr val="EAF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51A2E"/>
                          </a:solidFill>
                        </a:rPr>
                        <a:t>[3,2]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51A2E"/>
                          </a:solidFill>
                        </a:rPr>
                        <a:t>[4,2]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51A2E"/>
                          </a:solidFill>
                        </a:rPr>
                        <a:t>[1,1]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151A2E"/>
                          </a:solidFill>
                        </a:rPr>
                        <a:t>Start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151A2E"/>
                          </a:solidFill>
                        </a:rPr>
                        <a:t>Safe (¬P ¬W)</a:t>
                      </a:r>
                    </a:p>
                  </a:txBody>
                  <a:tcPr>
                    <a:solidFill>
                      <a:srgbClr val="EAF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51A2E"/>
                          </a:solidFill>
                        </a:rPr>
                        <a:t>[2,1]</a:t>
                      </a:r>
                    </a:p>
                    <a:p>
                      <a:pPr algn="ctr"/>
                      <a:r>
                        <a:rPr sz="1100">
                          <a:solidFill>
                            <a:srgbClr val="151A2E"/>
                          </a:solidFill>
                        </a:rPr>
                        <a:t>Breeze</a:t>
                      </a:r>
                    </a:p>
                    <a:p>
                      <a:pPr algn="ctr"/>
                      <a:r>
                        <a:rPr sz="1100">
                          <a:solidFill>
                            <a:srgbClr val="151A2E"/>
                          </a:solidFill>
                        </a:rPr>
                        <a:t>Visited</a:t>
                      </a:r>
                    </a:p>
                  </a:txBody>
                  <a:tcPr>
                    <a:solidFill>
                      <a:srgbClr val="FDF2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51A2E"/>
                          </a:solidFill>
                        </a:rPr>
                        <a:t>[3,1]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151A2E"/>
                          </a:solidFill>
                        </a:rPr>
                        <a:t>?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151A2E"/>
                          </a:solidFill>
                        </a:rPr>
                        <a:t>Provably Deadly</a:t>
                      </a:r>
                    </a:p>
                  </a:txBody>
                  <a:tcPr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51A2E"/>
                          </a:solidFill>
                        </a:rPr>
                        <a:t>[4,1]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18288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" b="0" i="0">
                <a:solidFill>
                  <a:srgbClr val="151A2E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51A2E"/>
                </a:solidFill>
                <a:latin typeface="Calibri"/>
              </a:rPr>
              <a:t>Legend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423160"/>
            <a:ext cx="365760" cy="365760"/>
          </a:xfrm>
          <a:prstGeom prst="rect">
            <a:avLst/>
          </a:prstGeom>
          <a:solidFill>
            <a:srgbClr val="F4F6F8"/>
          </a:solidFill>
          <a:ln w="12700">
            <a:solidFill>
              <a:srgbClr val="555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239572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1A2E"/>
                </a:solidFill>
                <a:latin typeface="Calibri"/>
              </a:rPr>
              <a:t>Visited / observed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926080"/>
            <a:ext cx="365760" cy="365760"/>
          </a:xfrm>
          <a:prstGeom prst="rect">
            <a:avLst/>
          </a:prstGeom>
          <a:solidFill>
            <a:srgbClr val="EAF7EE"/>
          </a:solidFill>
          <a:ln w="12700">
            <a:solidFill>
              <a:srgbClr val="555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289864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1A2E"/>
                </a:solidFill>
                <a:latin typeface="Calibri"/>
              </a:rPr>
              <a:t>Provably Safe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3429000"/>
            <a:ext cx="365760" cy="365760"/>
          </a:xfrm>
          <a:prstGeom prst="rect">
            <a:avLst/>
          </a:prstGeom>
          <a:solidFill>
            <a:srgbClr val="FCECEA"/>
          </a:solidFill>
          <a:ln w="12700">
            <a:solidFill>
              <a:srgbClr val="555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34015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1A2E"/>
                </a:solidFill>
                <a:latin typeface="Calibri"/>
              </a:rPr>
              <a:t>Provably Deadly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931920"/>
            <a:ext cx="365760" cy="365760"/>
          </a:xfrm>
          <a:prstGeom prst="rect">
            <a:avLst/>
          </a:prstGeom>
          <a:solidFill>
            <a:srgbClr val="FDF2E3"/>
          </a:solidFill>
          <a:ln w="12700">
            <a:solidFill>
              <a:srgbClr val="555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20" y="390448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51A2E"/>
                </a:solidFill>
                <a:latin typeface="Calibri"/>
              </a:rPr>
              <a:t>Unknown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949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B66"/>
                </a:solidFill>
                <a:latin typeface="Calibri"/>
              </a:rPr>
              <a:t>Coordinates increase rightward (x) and upward (y): [1,1] is the bottom-left starting cell.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B66"/>
                </a:solidFill>
                <a:latin typeface="Calibri"/>
              </a:rPr>
              <a:t>Tartaglia Francesco — AI Coursework: Wumpus World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8B2E"/>
                </a:solidFill>
                <a:latin typeface="Calibri"/>
              </a:rPr>
              <a:t>PART B — CLASSIFICATION 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51A2E"/>
                </a:solidFill>
                <a:latin typeface="Calibri"/>
              </a:rPr>
              <a:t>Cell [2,2] — Provably Safe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16736"/>
            <a:ext cx="10972800" cy="254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10744200" cy="123444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2E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/>
            <a:r>
              <a:rPr b="1" sz="1500">
                <a:solidFill>
                  <a:srgbClr val="2E6F95"/>
                </a:solidFill>
              </a:rPr>
              <a:t>Pit Inference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350">
                <a:solidFill>
                  <a:srgbClr val="151A2E"/>
                </a:solidFill>
              </a:rPr>
              <a:t>From Obs. [1,2]: ¬B1,2. By the Breeze biconditional: ¬B1,2 ⇒ (¬P1,1 ∧ ¬P1,3 ∧ ¬P2,2). Therefore the KB entails ¬P2,2.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71800"/>
            <a:ext cx="10744200" cy="123444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2E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/>
            <a:r>
              <a:rPr b="1" sz="1500">
                <a:solidFill>
                  <a:srgbClr val="2E6F95"/>
                </a:solidFill>
              </a:rPr>
              <a:t>Wumpus Inference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350">
                <a:solidFill>
                  <a:srgbClr val="151A2E"/>
                </a:solidFill>
              </a:rPr>
              <a:t>From Obs. [2,1]: ¬S2,1. By the Stench biconditional: ¬S2,1 ⇒ (¬W1,1 ∧ ¬W2,2 ∧ ¬W3,1). Therefore the KB entails ¬W2,2.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389120"/>
            <a:ext cx="10744200" cy="1371600"/>
          </a:xfrm>
          <a:prstGeom prst="roundRect">
            <a:avLst/>
          </a:prstGeom>
          <a:solidFill>
            <a:srgbClr val="EAF7EE"/>
          </a:solidFill>
          <a:ln w="19050">
            <a:solidFill>
              <a:srgbClr val="277D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/>
            <a:r>
              <a:rPr b="1" sz="1600">
                <a:solidFill>
                  <a:srgbClr val="277D4B"/>
                </a:solidFill>
              </a:rPr>
              <a:t>Conclusion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450">
                <a:solidFill>
                  <a:srgbClr val="151A2E"/>
                </a:solidFill>
              </a:rPr>
              <a:t>The KB entails ¬P2,2 ∧ ¬W2,2. By the Safety Rule (OKx,y ⇔ ¬Px,y ∧ ¬Wx,y), the KB entails OK2,2.  →  Cell [2,2] is PROVABLY SAFE.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B66"/>
                </a:solidFill>
                <a:latin typeface="Calibri"/>
              </a:rPr>
              <a:t>Tartaglia Francesco — AI Coursework: Wumpus World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8B2E"/>
                </a:solidFill>
                <a:latin typeface="Calibri"/>
              </a:rPr>
              <a:t>PART B — CLASSIFICATION 2/3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51A2E"/>
                </a:solidFill>
                <a:latin typeface="Calibri"/>
              </a:rPr>
              <a:t>Cell [3,1] — Provably Deadly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16736"/>
            <a:ext cx="10972800" cy="254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10744200" cy="123444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2E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/>
            <a:r>
              <a:rPr b="1" sz="1500">
                <a:solidFill>
                  <a:srgbClr val="2E6F95"/>
                </a:solidFill>
              </a:rPr>
              <a:t>Breeze Inference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350">
                <a:solidFill>
                  <a:srgbClr val="151A2E"/>
                </a:solidFill>
              </a:rPr>
              <a:t>From Obs. [2,1]: B2,1 is TRUE. By the Breeze Rule: B2,1 ⇒ (P1,1 ∨ P2,2 ∨ P3,1) — a pit must be in one of the adjacent cells.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71800"/>
            <a:ext cx="10744200" cy="123444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2E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/>
            <a:r>
              <a:rPr b="1" sz="1500">
                <a:solidFill>
                  <a:srgbClr val="2E6F95"/>
                </a:solidFill>
              </a:rPr>
              <a:t>Elimination by Unit Resolution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350">
                <a:solidFill>
                  <a:srgbClr val="151A2E"/>
                </a:solidFill>
              </a:rPr>
              <a:t>We already know ¬P1,1 (initial assumption) and ¬P2,2 (proved on the previous slide). Substituting into the disjunction leaves only one live term.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389120"/>
            <a:ext cx="10744200" cy="1371600"/>
          </a:xfrm>
          <a:prstGeom prst="roundRect">
            <a:avLst/>
          </a:prstGeom>
          <a:solidFill>
            <a:srgbClr val="FCECEA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/>
            <a:r>
              <a:rPr b="1" sz="1600">
                <a:solidFill>
                  <a:srgbClr val="C0392B"/>
                </a:solidFill>
              </a:rPr>
              <a:t>Conclusion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450">
                <a:solidFill>
                  <a:srgbClr val="151A2E"/>
                </a:solidFill>
              </a:rPr>
              <a:t>Unit Resolution on (P1,1 ∨ P2,2 ∨ P3,1) with ¬P1,1 and ¬P2,2 forces P3,1.  →  Cell [3,1] is PROVABLY DEADLY (contains a Pit).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B66"/>
                </a:solidFill>
                <a:latin typeface="Calibri"/>
              </a:rPr>
              <a:t>Tartaglia Francesco — AI Coursework: Wumpus World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8B2E"/>
                </a:solidFill>
                <a:latin typeface="Calibri"/>
              </a:rPr>
              <a:t>PART B — CLASSIFICATION 3/3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51A2E"/>
                </a:solidFill>
                <a:latin typeface="Calibri"/>
              </a:rPr>
              <a:t>Cell [1,3] — Unknown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16736"/>
            <a:ext cx="10972800" cy="254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10744200" cy="1234440"/>
          </a:xfrm>
          <a:prstGeom prst="roundRect">
            <a:avLst/>
          </a:prstGeom>
          <a:solidFill>
            <a:srgbClr val="EAF7EE"/>
          </a:solidFill>
          <a:ln w="19050">
            <a:solidFill>
              <a:srgbClr val="277D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/>
            <a:r>
              <a:rPr b="1" sz="1500">
                <a:solidFill>
                  <a:srgbClr val="277D4B"/>
                </a:solidFill>
              </a:rPr>
              <a:t>Pit Inference — Resolved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350">
                <a:solidFill>
                  <a:srgbClr val="151A2E"/>
                </a:solidFill>
              </a:rPr>
              <a:t>From Obs. [1,2]: ¬B1,2 already gave us ¬P1,3 (same derivation as for [2,2]). The cell is proven safe from Pits.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71800"/>
            <a:ext cx="10744200" cy="1234440"/>
          </a:xfrm>
          <a:prstGeom prst="roundRect">
            <a:avLst/>
          </a:prstGeom>
          <a:solidFill>
            <a:srgbClr val="FCECEA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/>
            <a:r>
              <a:rPr b="1" sz="1500">
                <a:solidFill>
                  <a:srgbClr val="C0392B"/>
                </a:solidFill>
              </a:rPr>
              <a:t>Wumpus Inference — Blocked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350">
                <a:solidFill>
                  <a:srgbClr val="151A2E"/>
                </a:solidFill>
              </a:rPr>
              <a:t>Resolving W1,3 requires Stench data from an adjacent cell (S1,2 or S2,3). But [1,2]'s observation was PARTIAL — Stench was never reported. The KB simply lacks the premise needed.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389120"/>
            <a:ext cx="10744200" cy="1371600"/>
          </a:xfrm>
          <a:prstGeom prst="roundRect">
            <a:avLst/>
          </a:prstGeom>
          <a:solidFill>
            <a:srgbClr val="FDF2E3"/>
          </a:solidFill>
          <a:ln w="19050">
            <a:solidFill>
              <a:srgbClr val="E88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/>
            <a:r>
              <a:rPr b="1" sz="1600">
                <a:solidFill>
                  <a:srgbClr val="E88B2E"/>
                </a:solidFill>
              </a:rPr>
              <a:t>Conclusion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450">
                <a:solidFill>
                  <a:srgbClr val="151A2E"/>
                </a:solidFill>
              </a:rPr>
              <a:t>The KB entails neither W1,3 nor ¬W1,3 — the missing Stench premise cannot be substituted either way.  →  Cell [1,3] is UNKNOWN.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B66"/>
                </a:solidFill>
                <a:latin typeface="Calibri"/>
              </a:rPr>
              <a:t>Tartaglia Francesco — AI Coursework: Wumpus World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8B2E"/>
                </a:solidFill>
                <a:latin typeface="Calibri"/>
              </a:rPr>
              <a:t>PART B —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51A2E"/>
                </a:solidFill>
                <a:latin typeface="Calibri"/>
              </a:rPr>
              <a:t>Classification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16736"/>
            <a:ext cx="10972800" cy="254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45920"/>
          <a:ext cx="10789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91840"/>
                <a:gridCol w="5486400"/>
              </a:tblGrid>
              <a:tr h="68580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Cell</a:t>
                      </a:r>
                    </a:p>
                  </a:txBody>
                  <a:tcPr>
                    <a:solidFill>
                      <a:srgbClr val="2E6F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Classification</a:t>
                      </a:r>
                    </a:p>
                  </a:txBody>
                  <a:tcPr>
                    <a:solidFill>
                      <a:srgbClr val="2E6F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Key Entailment</a:t>
                      </a:r>
                    </a:p>
                  </a:txBody>
                  <a:tcPr>
                    <a:solidFill>
                      <a:srgbClr val="2E6F9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151A2E"/>
                          </a:solidFill>
                          <a:latin typeface="Consolas"/>
                        </a:rPr>
                        <a:t>[2,2]</a:t>
                      </a:r>
                    </a:p>
                  </a:txBody>
                  <a:tcPr>
                    <a:solidFill>
                      <a:srgbClr val="EAF7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277D4B"/>
                          </a:solidFill>
                        </a:rPr>
                        <a:t>Provably Safe</a:t>
                      </a:r>
                    </a:p>
                  </a:txBody>
                  <a:tcPr>
                    <a:solidFill>
                      <a:srgbClr val="EAF7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51A2E"/>
                          </a:solidFill>
                          <a:latin typeface="Consolas"/>
                        </a:rPr>
                        <a:t>KB ⊨ ¬P2,2 ∧ ¬W2,2  →  KB ⊨ OK2,2</a:t>
                      </a:r>
                    </a:p>
                  </a:txBody>
                  <a:tcPr>
                    <a:solidFill>
                      <a:srgbClr val="EAF7E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151A2E"/>
                          </a:solidFill>
                          <a:latin typeface="Consolas"/>
                        </a:rPr>
                        <a:t>[3,1]</a:t>
                      </a:r>
                    </a:p>
                  </a:txBody>
                  <a:tcPr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C0392B"/>
                          </a:solidFill>
                        </a:rPr>
                        <a:t>Provably Deadly</a:t>
                      </a:r>
                    </a:p>
                  </a:txBody>
                  <a:tcPr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51A2E"/>
                          </a:solidFill>
                          <a:latin typeface="Consolas"/>
                        </a:rPr>
                        <a:t>KB ⊨ P3,1  (by Unit Resolution)</a:t>
                      </a:r>
                    </a:p>
                  </a:txBody>
                  <a:tcPr>
                    <a:solidFill>
                      <a:srgbClr val="FCECE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151A2E"/>
                          </a:solidFill>
                          <a:latin typeface="Consolas"/>
                        </a:rPr>
                        <a:t>[1,3]</a:t>
                      </a:r>
                    </a:p>
                  </a:txBody>
                  <a:tcPr>
                    <a:solidFill>
                      <a:srgbClr val="FDF2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E88B2E"/>
                          </a:solidFill>
                        </a:rPr>
                        <a:t>Unknown</a:t>
                      </a:r>
                    </a:p>
                  </a:txBody>
                  <a:tcPr>
                    <a:solidFill>
                      <a:srgbClr val="FDF2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51A2E"/>
                          </a:solidFill>
                          <a:latin typeface="Consolas"/>
                        </a:rPr>
                        <a:t>KB ⊨ ¬P1,3, but KB ⊭ W1,3 and KB ⊭ ¬W1,3</a:t>
                      </a:r>
                    </a:p>
                  </a:txBody>
                  <a:tcPr>
                    <a:solidFill>
                      <a:srgbClr val="FDF2E3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5720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1">
                <a:solidFill>
                  <a:srgbClr val="555B66"/>
                </a:solidFill>
                <a:latin typeface="Calibri"/>
              </a:rPr>
              <a:t>The asymmetry between [2,2]/[3,1] (fully resolved) and [1,3] (irreducibly unknown) stems entirely from the partial observation at [1,2] — a direct illustration of false vs. unknown.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B66"/>
                </a:solidFill>
                <a:latin typeface="Calibri"/>
              </a:rPr>
              <a:t>Tartaglia Francesco — AI Coursework: Wumpus World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8B2E"/>
                </a:solidFill>
                <a:latin typeface="Calibri"/>
              </a:rPr>
              <a:t>REDUCING UNCERTAINTY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51A2E"/>
                </a:solidFill>
                <a:latin typeface="Calibri"/>
              </a:rPr>
              <a:t>Part C — Active Reasoning: The Next Move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16736"/>
            <a:ext cx="10972800" cy="254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77D4B"/>
                </a:solidFill>
                <a:latin typeface="Calibri"/>
              </a:rPr>
              <a:t>The only rational next move is to step into cell [2,2].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3429000" cy="2377440"/>
          </a:xfrm>
          <a:prstGeom prst="roundRect">
            <a:avLst/>
          </a:prstGeom>
          <a:solidFill>
            <a:srgbClr val="FCECEA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37160"/>
          <a:lstStyle/>
          <a:p>
            <a:pPr algn="ctr"/>
            <a:r>
              <a:rPr b="1" sz="1600">
                <a:solidFill>
                  <a:srgbClr val="151A2E"/>
                </a:solidFill>
              </a:rPr>
              <a:t>Move to [3,1]</a:t>
            </a:r>
          </a:p>
          <a:p>
            <a:pPr>
              <a:spcBef>
                <a:spcPts val="800"/>
              </a:spcBef>
            </a:pPr>
            <a:r>
              <a:rPr b="1" sz="1400">
                <a:solidFill>
                  <a:srgbClr val="C0392B"/>
                </a:solidFill>
              </a:rPr>
              <a:t>REJECTED</a:t>
            </a:r>
          </a:p>
          <a:p>
            <a:pPr>
              <a:lnSpc>
                <a:spcPct val="125000"/>
              </a:lnSpc>
              <a:spcBef>
                <a:spcPts val="1000"/>
              </a:spcBef>
            </a:pPr>
            <a:r>
              <a:rPr sz="1250">
                <a:solidFill>
                  <a:srgbClr val="151A2E"/>
                </a:solidFill>
              </a:rPr>
              <a:t>Provably Deadly — certain to trigger a Pit. A fatal, irrational error.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2240280"/>
            <a:ext cx="3429000" cy="2377440"/>
          </a:xfrm>
          <a:prstGeom prst="roundRect">
            <a:avLst/>
          </a:prstGeom>
          <a:solidFill>
            <a:srgbClr val="FDF2E3"/>
          </a:solidFill>
          <a:ln w="19050">
            <a:solidFill>
              <a:srgbClr val="E88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37160"/>
          <a:lstStyle/>
          <a:p>
            <a:pPr algn="ctr"/>
            <a:r>
              <a:rPr b="1" sz="1600">
                <a:solidFill>
                  <a:srgbClr val="151A2E"/>
                </a:solidFill>
              </a:rPr>
              <a:t>Move to [1,3]</a:t>
            </a:r>
          </a:p>
          <a:p>
            <a:pPr>
              <a:spcBef>
                <a:spcPts val="800"/>
              </a:spcBef>
            </a:pPr>
            <a:r>
              <a:rPr b="1" sz="1400">
                <a:solidFill>
                  <a:srgbClr val="E88B2E"/>
                </a:solidFill>
              </a:rPr>
              <a:t>REJECTED</a:t>
            </a:r>
          </a:p>
          <a:p>
            <a:pPr>
              <a:lnSpc>
                <a:spcPct val="125000"/>
              </a:lnSpc>
              <a:spcBef>
                <a:spcPts val="1000"/>
              </a:spcBef>
            </a:pPr>
            <a:r>
              <a:rPr sz="1250">
                <a:solidFill>
                  <a:srgbClr val="151A2E"/>
                </a:solidFill>
              </a:rPr>
              <a:t>Unknown status — moving here is an unjustified gamble with the Wumpus.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2240280"/>
            <a:ext cx="3429000" cy="2377440"/>
          </a:xfrm>
          <a:prstGeom prst="roundRect">
            <a:avLst/>
          </a:prstGeom>
          <a:solidFill>
            <a:srgbClr val="EAF7EE"/>
          </a:solidFill>
          <a:ln w="19050">
            <a:solidFill>
              <a:srgbClr val="277D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37160"/>
          <a:lstStyle/>
          <a:p>
            <a:pPr algn="ctr"/>
            <a:r>
              <a:rPr b="1" sz="1600">
                <a:solidFill>
                  <a:srgbClr val="151A2E"/>
                </a:solidFill>
              </a:rPr>
              <a:t>Move to [2,2]</a:t>
            </a:r>
          </a:p>
          <a:p>
            <a:pPr>
              <a:spcBef>
                <a:spcPts val="800"/>
              </a:spcBef>
            </a:pPr>
            <a:r>
              <a:rPr b="1" sz="1400">
                <a:solidFill>
                  <a:srgbClr val="277D4B"/>
                </a:solidFill>
              </a:rPr>
              <a:t>OPTIMAL</a:t>
            </a:r>
          </a:p>
          <a:p>
            <a:pPr>
              <a:lnSpc>
                <a:spcPct val="125000"/>
              </a:lnSpc>
              <a:spcBef>
                <a:spcPts val="1000"/>
              </a:spcBef>
            </a:pPr>
            <a:r>
              <a:rPr sz="1250">
                <a:solidFill>
                  <a:srgbClr val="151A2E"/>
                </a:solidFill>
              </a:rPr>
              <a:t>Provably Safe AND informative — the only move that respects both safety and exploration.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4632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51A2E"/>
                </a:solidFill>
                <a:latin typeface="Calibri"/>
              </a:rPr>
              <a:t>Rationale: active reasoning balances exploration with strict risk avoidance. Moving into [2,2] lets the agent acquire new sensory data (e.g., S2,2) — potentially converting the currently Unknown [1,3] into a resolved Known state.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B66"/>
                </a:solidFill>
                <a:latin typeface="Calibri"/>
              </a:rPr>
              <a:t>Tartaglia Francesco — AI Coursework: Wumpus World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8B2E"/>
                </a:solidFill>
                <a:latin typeface="Calibri"/>
              </a:rPr>
              <a:t>WHY THIS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51A2E"/>
                </a:solidFill>
                <a:latin typeface="Calibri"/>
              </a:rP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16736"/>
            <a:ext cx="10972800" cy="254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61848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51A2E"/>
                </a:solidFill>
                <a:latin typeface="Calibri"/>
              </a:rPr>
              <a:t>Logic separates false from unknown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99339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55B66"/>
                </a:solidFill>
                <a:latin typeface="Calibri"/>
              </a:rPr>
              <a:t>A boolean array cannot express "no information" — a KB that entails neither P nor ¬P correctly identifies genuine uncertainty.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788920"/>
            <a:ext cx="457200" cy="457200"/>
          </a:xfrm>
          <a:prstGeom prst="ellipse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76148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51A2E"/>
                </a:solidFill>
                <a:latin typeface="Calibri"/>
              </a:rPr>
              <a:t>Biconditionals are essential, not implications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13639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55B66"/>
                </a:solidFill>
                <a:latin typeface="Calibri"/>
              </a:rPr>
              <a:t>Only ⇔ rules let the agent infer the ABSENCE of a hazard from the absence of a percept — the very mechanism that proves [2,2] safe.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931920"/>
            <a:ext cx="457200" cy="457200"/>
          </a:xfrm>
          <a:prstGeom prst="ellipse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90448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51A2E"/>
                </a:solidFill>
                <a:latin typeface="Calibri"/>
              </a:rPr>
              <a:t>Partial observability has structural consequences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27939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55B66"/>
                </a:solidFill>
                <a:latin typeface="Calibri"/>
              </a:rPr>
              <a:t>The single missing Stench datum at [1,2] is sufficient to leave [1,3] permanently Unknown until further evidence is gathered.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074920"/>
            <a:ext cx="457200" cy="457200"/>
          </a:xfrm>
          <a:prstGeom prst="ellipse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04748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51A2E"/>
                </a:solidFill>
                <a:latin typeface="Calibri"/>
              </a:rPr>
              <a:t>Active reasoning is guided by this distinction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42239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55B66"/>
                </a:solidFill>
                <a:latin typeface="Calibri"/>
              </a:rPr>
              <a:t>Rational action favors Provably Safe moves over Unknown gambles — reducing uncertainty methodically rather than by chance.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B66"/>
                </a:solidFill>
                <a:latin typeface="Calibri"/>
              </a:rPr>
              <a:t>Tartaglia Francesco — AI Coursework: Wumpus World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2191695" cy="38100"/>
          </a:xfrm>
          <a:prstGeom prst="rect">
            <a:avLst/>
          </a:prstGeom>
          <a:solidFill>
            <a:srgbClr val="E88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20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9CED6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Tartaglia Francesco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